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Análisis exploratorio del conjunto
RSNA 2022 Cervical Spine Fracture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3977639"/>
            <a:ext cx="2011680" cy="635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Proyecto 2 · Reto 20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0">
                <a:solidFill>
                  <a:srgbClr val="D4DEE2"/>
                </a:solidFill>
                <a:latin typeface="Segoe UI"/>
              </a:rPr>
              <a:t>CC3084 — Data Science · Universidad del Valle de Guatemala · Semestre II 2026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0">
                <a:solidFill>
                  <a:srgbClr val="D4DEE2"/>
                </a:solidFill>
                <a:latin typeface="Segoe UI"/>
              </a:rPr>
              <a:t>Miembros A, B, C y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Primera corrección: no son radiografías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La unidad de análisis es un volumen 3D, no una imagen 2D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264653"/>
                </a:solidFill>
                <a:latin typeface="Segoe UI"/>
              </a:rPr>
              <a:t>El enunciado del curso describe el reto como "radiografías".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Es incorrecto, y la corrección cambia todo el diseño del análisis: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• Cada paciente es una tomografía computarizada (TC) axial en DICOM.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• Un estudio = un volumen 3D de cientos de cortes, no una imagen.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• La observación es el estudio, no el corte: confundirlos inflaría la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   muestra y filtraría información entre particiones.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• La evidencia diagnóstica se aprecia recorriendo el eje craneocaudal.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783080"/>
            <a:ext cx="228600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1783080"/>
            <a:ext cx="63500" cy="1572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1847088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9D8F"/>
                </a:solidFill>
                <a:latin typeface="Segoe UI"/>
              </a:rPr>
              <a:t>314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2514600"/>
            <a:ext cx="20116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cortes por estudio (mediana)
rango: 69 a 1 082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83080"/>
            <a:ext cx="228600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72600" y="1783080"/>
            <a:ext cx="63500" cy="1572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7192" y="1847088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9D8F"/>
                </a:solidFill>
                <a:latin typeface="Segoe UI"/>
              </a:rPr>
              <a:t>≈350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7192" y="2514600"/>
            <a:ext cx="20116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≈700 000 archivos DICOM
ejecución obligada en Kaggle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474720"/>
            <a:ext cx="480060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347472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3538728"/>
            <a:ext cx="4526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94" b="1">
                <a:solidFill>
                  <a:srgbClr val="E76F51"/>
                </a:solidFill>
                <a:latin typeface="Segoe UI"/>
              </a:rPr>
              <a:t>12 instituciones · 9 países · 6 continentes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4206240"/>
            <a:ext cx="45262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El origen multinacional explica casi toda la heterogeneidad que
se describe más adelante.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Los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2 019 estudios de entrenamiento con cuatro niveles de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264653"/>
                </a:solidFill>
                <a:latin typeface="Segoe UI"/>
              </a:rPr>
              <a:t>La supervisión es piramidal: todos tienen etiqueta, muy pocos tienen localización.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77440"/>
            <a:ext cx="26060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377440"/>
            <a:ext cx="63500" cy="1572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51" b="1">
                <a:solidFill>
                  <a:srgbClr val="2A9D8F"/>
                </a:solidFill>
                <a:latin typeface="Segoe UI"/>
              </a:rPr>
              <a:t>2 019 ×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2331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train.csv
patient_overall + C1–C7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1296" y="2377440"/>
            <a:ext cx="26060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1296" y="237744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441448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7 217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3108960"/>
            <a:ext cx="2331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bounding boxes
sobre 235 estudios (11.64 %)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4224" y="2377440"/>
            <a:ext cx="26060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64224" y="237744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2441448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108960"/>
            <a:ext cx="2331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segmentaciones .nii
C1–C7 y T1–T12 (4.31 %)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2377440"/>
            <a:ext cx="26060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17152" y="2377440"/>
            <a:ext cx="63500" cy="1572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2441448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16" b="1">
                <a:solidFill>
                  <a:srgbClr val="2A9D8F"/>
                </a:solidFill>
                <a:latin typeface="Segoe UI"/>
              </a:rPr>
              <a:t>2 019 ×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108960"/>
            <a:ext cx="2331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metadatos DICOM
extraídos de las cabeceras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1">
                <a:solidFill>
                  <a:srgbClr val="264653"/>
                </a:solidFill>
                <a:latin typeface="Segoe UI"/>
              </a:rPr>
              <a:t>El conjunto está limpio. El problema es otro.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• De 32 chequeos de calidad, 12 verifican y salen limpios: 0 nulos, 0 duplicados,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   0 UID sin imágenes, 0 huecos de numeración, 0 cajas fuera de marco.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• patient_overall coincide con OR(C1..C7) en los 2 019 estudios: 0 inconsistencias.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• No hay nada que imputar ni deduplicar. Los obstáculos reales son la orientación sin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5B6B73"/>
                </a:solidFill>
                <a:latin typeface="Segoe UI"/>
              </a:rPr>
              <a:t>   normalizar, la heterogeneidad de adquisición y la supervisión espacial parcial.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Hallazgo 1 · La tarea binaria está balanceada; la de nivel 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6" name="Picture 5" descr="01_frecuencia_etique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4292"/>
            <a:ext cx="6583680" cy="3632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47.60 %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de los estudios son positivos (961 de 2 019). Balance cómodo: la exactitud no queda inflada por una clase mayoritaria.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El desbalance aparece un nivel más abajo: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• C7: 393 casos (40.89 % de los positivos)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• C2: 285   ·   C6: 277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• C3: solo 73 casos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264653"/>
                </a:solidFill>
                <a:latin typeface="Segoe UI"/>
              </a:rPr>
              <a:t>Razón C7 : C3 = 5.4 : 1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B6B73"/>
                </a:solidFill>
                <a:latin typeface="Segoe UI"/>
              </a:rPr>
              <a:t>Sin ponderación, un clasificador multietiqueta aprende a ignorar C3 y C4.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Hallazgo 2 · La distribución reproduce la literatura clínica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6" name="Picture 5" descr="01_correlacion_y_coocur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55802"/>
            <a:ext cx="6766560" cy="25693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691640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1">
                <a:solidFill>
                  <a:srgbClr val="264653"/>
                </a:solidFill>
                <a:latin typeface="Segoe UI"/>
              </a:rPr>
              <a:t>66.14 % de las fracturas están en C2, C6 y C7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(955 de 1 444 niveles fracturados; C7 es el más frecuente)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• 62.4 % en el conjunto RSNA completo (Lin et al., 2023)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• 63.3 % en 21 instituciones (Goldberg et al., 2001)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Es una verificación externa de validez: el conjunto no está sesgado hacia un patrón atípico.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16052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1">
                <a:solidFill>
                  <a:srgbClr val="264653"/>
                </a:solidFill>
                <a:latin typeface="Segoe UI"/>
              </a:rPr>
              <a:t>Las fracturas se agrupan entre vértebras vecinas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Ninguna correlación phi supera 0.85, pero las más altas son siempre entre niveles adyacentes: la fuerza se disipa al segmento contiguo.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B6B73"/>
                </a:solidFill>
                <a:latin typeface="Segoe UI"/>
              </a:rPr>
              <a:t>→ Tratar C1–C7 como 7 problemas independientes desperdicia estructura.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Hallazgo 3 · Dos protocolos distintos conviven en el conjunto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6" name="Picture 5" descr="02_distribuciones_meta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70" y="1600200"/>
            <a:ext cx="3952259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Lo homogéneo: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slice_thickness toma solo 10 valores (mediana 0.625 mm) y no produce ningún atípico por IQR: el único caso así del conjunto.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Lo heterogéneo: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pixel_spacing toma 324 valores distintos (0.190–0.713 mm), siempre isotrópico en el plano. n_slices va de 69 a 1 082.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Ojo con cómo se mide z_extent: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Como n_slices × grosor: 33.7–642.6 mm (σ = 81.3). Como |z_last − z_first| real: 48.5–334.4 mm (σ = 28.9). La aproximación sobreestima en el 99.9 % de los estudios.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La cobertura real es MÁS homogénea de lo que parecía.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Lo que varía no es la anatomía sino el solapamiento de reconstrucción. Atípicos reales: n_slices 27 (1.34 %) · z_extent 29 (1.44 %). No se eliminan: son protocolo legítimo de 12 hospitales.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Hallazgo 4 · Nueve de cada diez volúmenes están al revés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El hallazgo con mayor potencial de daño silencioso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7" name="Picture 6" descr="05_reporte_c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7472"/>
            <a:ext cx="5943600" cy="35260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737360"/>
            <a:ext cx="4663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73736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4032" y="1801368"/>
            <a:ext cx="4389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90.24 %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2468880"/>
            <a:ext cx="4389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de los estudios (1 822 de 2 019) apila en sentido DESCENDENTE.
Solo 197 lo hacen en sentido ascendente.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Y la trampa es que parece correcto.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• slice_gap = 0 en el 100 % de los estudios: la numeración de archivos NO tiene huecos.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• Los 2 019 tienen ImagePositionPatient legible.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Como la numeración es perfectamente contigua, ordenar por nombre de archivo se ve bien, no lanza ningún error… y procesa nueve de cada diez volúmenes invertidos.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→ Ordenar SIEMPRE por ImagePositionPatient[2], y afirmar la convención con un assert.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Hallazgo 5 · Hay un riesgo de atajo, pequeño pero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6" name="Picture 5" descr="02_metadatos_por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53409"/>
            <a:ext cx="6035040" cy="19683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La prueba prevista no es aplicable.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SIETE columnas valen "Desconocido" en el 100 % de los estudios (manufacturer, model, kernel, kvp, patient_sex, patient_age, study_desc): el conjunto fue des-identificado. El χ² da p = 1.0000, que no significa "sin asociación" sino "sin datos".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Pero las variables de adquisición sí difieren: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n_slices:  p = 1.8 × 10⁻⁸   ·   P(pos &gt; neg) = 0.428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z_extent:  p = 3.3 × 10⁻³   ·   P(pos &gt; neg) = 0.462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Medir bien reduce el atajo a la mitad.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Con el z_extent aproximado el efecto parecía p = 8.5 × 10⁻¹⁰. Con el recorrido físico real cae a 3.3 × 10⁻³: la diferencia estaba en el solapamiento, no en la anatomía. n_slices pasa a ser la señal dominante.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1663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264653"/>
                </a:solidFill>
                <a:latin typeface="Segoe UI"/>
              </a:rPr>
              <a:t>→ Estratificar por n_slices discretizado, el mejor sustituto observable del sitio de origen.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Hallazgo 6 · La lesión ocupa el 2.4 % del corte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El resultado que más condiciona todo el diseño posterior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7" name="Picture 6" descr="03_area_y_forma_bounding_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63582"/>
            <a:ext cx="6766560" cy="24452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828800"/>
            <a:ext cx="393192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82880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892808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2.415 %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2560320"/>
            <a:ext cx="3657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del corte de 512 × 512 ocupa la caja (mediana).
En píxeles: 6 331 de 262 144.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429000"/>
            <a:ext cx="393192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342900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3493008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41 :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4160520"/>
            <a:ext cx="3657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relación fondo-a-lesión. Y la caja es un LÍMITE SUPERIOR:
incluye vértebra y tejido circundante.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0292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Consecuencia directa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Clasificar el volumen completo obliga a la red a hallar una señal del 2 % en un campo enorme. Justifica el enfoque en dos etapas.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Hallazgo 7 · La anotación espacial es escasa y no exhaustiva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6" name="Picture 5" descr="03_solapamiento_anot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2692"/>
            <a:ext cx="5760720" cy="3415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Cobertura de la localización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• Bounding box: 235 estudios = 11.64 % del conjunto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   …y solo el 24.45 % de los casos positivos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• Segmentación: 87 estudios = 4.31 %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• Ambas a la vez: 40 estudios = 1.98 %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Tres de cada cuatro positivos no tienen localización.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→ La ausencia de caja NO significa ausencia de fractura. Usar los estudios sin caja como negativos para un detector introduciría ruido de etiqueta masivo.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Los 40 estudios con ambas anotaciones son el único recurso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para verificar que las máscaras NIfTI están bien alineadas con los volúmenes DICOM. Conviene no gastarlos como conjunto de prueba.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Por qué el preprocesamiento decide el resultado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Las tres imágenes son el mismo corte DICOM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7" name="Picture 6" descr="04_comparacion_venta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583" y="1691640"/>
            <a:ext cx="8832353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98348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El rango HU va de −1 000 (aire) a +3 000 (hueso cortical); la pantalla tiene 256 niveles.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Sin ventana, la autoescala comprime todo el tejido intermedio y la imagen es inservible. La ventana ósea (C = 400, A = 1 800) conserva el contraste entre cortical y trabécula, que es donde se manifiesta la fractura. No es un ajuste estético: decide si la señal diagnóstica llega o no a la entrada del modelo.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Y por qué el problema es difícil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Positivos (arriba) frente a negativos (abajo), en posiciones comparables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pic>
        <p:nvPicPr>
          <p:cNvPr id="7" name="Picture 6" descr="04_positivos_vs_nega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823" y="1691640"/>
            <a:ext cx="5005874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257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264653"/>
                </a:solidFill>
                <a:latin typeface="Segoe UI"/>
              </a:rPr>
              <a:t>A simple vista, en un corte aislado, las dos filas no son distinguibles.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B6B73"/>
                </a:solidFill>
                <a:latin typeface="Segoe UI"/>
              </a:rPr>
              <a:t>La discontinuidad cortical es sutil a esta escala. La lectura clínica exige recorrer el volumen y consultar la reconstrucción sagital: un clasificador que opere corte a corte, sin contexto 3D ni localización previa, parte en desventaja.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Preprocesamiento derivado de los hallazgos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i="1">
                <a:solidFill>
                  <a:srgbClr val="2A9D8F"/>
                </a:solidFill>
                <a:latin typeface="Segoe UI"/>
              </a:rPr>
              <a:t>Ninguna operación elimina observaciones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1 · Normalizar la orientación  ← la más crítica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El 90.24 % de los volúmenes está apilado al revés. Ordenar por ImagePositionPatient[2], nunca por nombre de archivo. Reorientar las máscaras NIfTI y validar la superposición VISUALMENTE.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2 · Convertir a HU y remuestrear a 1×1×1 mm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HU = pixel × RescaleSlope + RescaleIntercept. Sin remuestreo isotrópico, el mismo número de píxeles mide distintos milímetros según el hospital.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3 · Ventana ósea y descarte del rango de aire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C = 400, A = 1 800 como vista primaria.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4 · Recortar a C1–C7 con las segmentaciones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Homogeneiza el campo de visión sin descartar estudios y neutraliza el atajo por z_extent. El recorte propagado introduce un error no cuantificado en este EDA.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5 · Fijar de antemano la regla para etiquetas ambiguas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En train no hay inconsistencias, pero el chequeo se mantiene: test público y privado pueden comportarse distinto.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6 · Partición estratificada y agrupada por paciente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Por patient_overall, por nivel y por n_slices discretizado. La estratificación por fabricante no es posible: está des-identificada, igual que otras 6 columnas.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64653"/>
                </a:solidFill>
                <a:latin typeface="Segoe UI"/>
              </a:rPr>
              <a:t>Conclusiones y siguientes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3716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276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CA3AF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400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CA3AF"/>
                </a:solidFill>
                <a:latin typeface="Segoe UI"/>
              </a:rPr>
              <a:t>CC3084 · Proyecto 2 · RSNA 2022 Cervical Spine Fracture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3520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2.4 %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del corte ocupa la lesión →
justifica el enfoque en dos etapas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20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5564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11.6 %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423160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de los estudios tienen localización →
etiqueta débil, nunca verdad exhaustiva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1691640"/>
            <a:ext cx="3520440" cy="15727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91640"/>
            <a:ext cx="63500" cy="157276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75564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76F51"/>
                </a:solidFill>
                <a:latin typeface="Segoe UI"/>
              </a:rPr>
              <a:t>90.2 %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423160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5B6B73"/>
                </a:solidFill>
                <a:latin typeface="Segoe UI"/>
              </a:rPr>
              <a:t>de los volúmenes está apilado al revés →
normalizar orientación, no limpiar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83280"/>
            <a:ext cx="10972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1. Adoptar un enfoque en dos etapas: localizar la vértebra, luego clasificar el recorte.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   Reduce la relación fondo-a-lesión, homogeneiza el campo de visión y convierte un problema multietiqueta en siete decisiones locales comparables.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2. Tratar cajas y segmentaciones como etiqueta débil.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   Los estudios sin anotación no son negativos; un detector entrenado así aprendería a no detectar.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3. Reservar los 40 estudios con ambas anotaciones para validar el pipeline geométrico.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4. Fijar el preprocesamiento antes de experimentar.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   Los errores de orientación no lanzan excepción: degradan el desempeño de forma inexplicable.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264653"/>
                </a:solidFill>
                <a:latin typeface="Segoe UI"/>
              </a:rPr>
              <a:t>5. Medir la geometría con la cabecera, no con aritmética sobre el conteo de cortes.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50" b="0">
                <a:solidFill>
                  <a:srgbClr val="5B6B73"/>
                </a:solidFill>
                <a:latin typeface="Segoe UI"/>
              </a:rPr>
              <a:t>   |z_last − z_first| frente a n_slices × grosor cambió el rango, los atípicos (84→29) y la fuerza del atajo.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