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Detección de fracturas cervicales en TC
Modelado, evaluación y aplicación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4069080"/>
            <a:ext cx="2011680" cy="635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</a:rPr>
              <a:t>Proyecto 2 · Fase de resultados · Reto 20</a:t>
            </a:r>
          </a:p>
          <a:p>
            <a:r>
              <a:rPr sz="1600" b="0">
                <a:solidFill>
                  <a:srgbClr val="D4DEE2"/>
                </a:solidFill>
                <a:latin typeface="Segoe UI"/>
              </a:rPr>
              <a:t>CC3084 — Data Science · Universidad del Valle de Guatemala · Semestre II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Una lesión diminuta en una imagen enorme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56616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470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2.4 %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del corte ocupa la lesión anotada (mediana).
Relación fondo-a-lesión ≈ 41 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56616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8470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11.6 %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14600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 los estudios tiene localización.
3 de cada 4 positivos no la tienen.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1" y="1783080"/>
            <a:ext cx="356616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78308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3" y="18470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9D8F"/>
                </a:solidFill>
                <a:latin typeface="Segoe UI"/>
              </a:rPr>
              <a:t>p = 1.8e-8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2514600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asociación entre metadatos de adquisición
y etiqueta: riesgo de atajo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264653"/>
                </a:solidFill>
                <a:latin typeface="Segoe UI"/>
              </a:rPr>
              <a:t>¿Puede un clasificador identificar una fractura visible en un corte axial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264653"/>
                </a:solidFill>
                <a:latin typeface="Segoe UI"/>
              </a:rPr>
              <a:t>sin que su desempeño se explique por atajos de protocolo ni por fuga entre pacientes?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/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Los tres hallazgos del EDA no son contexto: son las tres restricciones que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determinaron el diseño del experimento.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Cómo se construyó la etiqueta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El conjunto etiqueta estudios; la app recibe una imagen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Positivo — 7 217 cortes con bounding box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   la lesión es visible en ese corte concreto.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Negativo difícil — cortes sanos del MISMO paciente positivo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   mismo paciente, mismo escáner, mismo protocolo a ambos lados de la etiqueta: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   el atajo de adquisición deja de pagar. Es la decisión central del diseño.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Negativo fácil — estudios sin fractura, en las mismas posiciones relativas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   muestreados según la distribución de posición de los positivos, para que la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   altura dentro de la pila tampoco sea una pista.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Excluidos — estudios positivos SIN caja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   se sabe que hay fractura pero no en qué corte: ninguna etiqueta sería fiable.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Partición agrupada por paciente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La decisión que evita una métrica inflada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Cortes contiguos son casi idénticos.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Con 0.625 mm de grosor mediano, dos cortes vecinos muestran prácticamente la misma anatomía.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/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Una partición aleatoria por corte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colocaría imágenes casi duplicadas a ambos lados y el modelo obtendría una métrica excelente por haber memorizado al paciente.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/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Se agrupa por StudyInstanceUID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con GroupShuffleSplit, y una aserción falla si algún estudio aparece en dos particiones.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783080"/>
            <a:ext cx="484632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78308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847088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9D8F"/>
                </a:solidFill>
                <a:latin typeface="Segoe UI"/>
              </a:rPr>
              <a:t>1 150 estudios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514600"/>
            <a:ext cx="4572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14 402 cortes, balance 50.1 % positivos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520440"/>
            <a:ext cx="484632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352044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3584448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84" b="1">
                <a:solidFill>
                  <a:srgbClr val="E76F51"/>
                </a:solidFill>
                <a:latin typeface="Segoe UI"/>
              </a:rPr>
              <a:t>0 % fallos de lectura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4251960"/>
            <a:ext cx="4572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una primera ejecución perdió el 35 % de los cortes en silencio
por falta del decodificador JPEG Lossless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Tres modelos de capacidad creciente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 b="1">
                <a:solidFill>
                  <a:srgbClr val="264653"/>
                </a:solidFill>
                <a:latin typeface="Segoe UI"/>
              </a:rPr>
              <a:t>Si la transferencia no supera a la CNN pequeña, el cuello de botella son los datos.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8600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28600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9D8F"/>
                </a:solidFill>
                <a:latin typeface="Segoe UI"/>
              </a:rPr>
              <a:t>0.24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CNN propia (desde cero)
284 s de entrenamiento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7" y="228600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7" y="228600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35000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2.26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MobileNetV2 (ImageNet)
467 s de entrenamiento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228600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228600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5000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4.05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EfficientNetB0 (ImageNet)
562 s de entrenamiento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148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Entrenamiento en dos etapas para las redes preentrenadas: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   base congelada con tasa 1e-3 → base descongelada con tasa 1e-5 (cien veces menor).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Parada temprana sobre AUC de validación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   con restauración de los mejores pesos, en lugar de un número fijo de épocas.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Umbral de cribado elegido en validación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   sensibilidad ≥ 90% con la mejor especificidad posible, en lugar de 0.5 o Youden.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Resultados · capacidad de ordenamiento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6_curvas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534" y="1645920"/>
            <a:ext cx="525333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73736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Mejor: EfficientNetB0 (ImageNet)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ROC-AUC 0.7740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/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El orden sigue a la capacidad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0.673 → 0.725 → 0.774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para 0.24 M → 2.26 M → 4.05 M parámetros.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/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La transferencia aporta 0.101 de AUC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sobre la CNN entrenada desde cero, pese a que ImageNet no se parece en nada a una tomografía.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Resultados · dónde se equivoca cada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6_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45" y="1691640"/>
            <a:ext cx="1006583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En cribado la sensibilidad domina.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Un falso negativo es una fractura no diagnosticada, con riesgo de deterioro neurológico; un falso positivo solo genera una revisión. Por eso el umbral se fija en validación para alcanzar al menos 90% de sensibilidad con la mejor especificidad posible, y queda configurable por modelo en models.yaml: es una decisión explícita, no el 0.5 por defecto.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Resultados · rendimiento frente a coste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6_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28863"/>
            <a:ext cx="10881360" cy="35831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CNN propia (desde cero) responde en 0.9 ms por imagen.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Para una aplicación interactiva la latencia pesa más que unas centésimas de AUC: los tres están muy por debajo del umbral de percepción.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La aplicación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Streamlit · configuración declarativa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7" name="Picture 6" descr="07_app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26861"/>
            <a:ext cx="5577840" cy="26614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1 · Datos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explora las variables con las que se construyeron los modelos: observaciones, nulos, distribución de la etiqueta y filtro de texto.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2 · Analizar imagen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un modelo concreto o «Todos los modelos disponibles»; resultados en tabla y gráfica comparativa.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3 · Rendimiento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métricas y matrices interactivas, con un interruptor que permite ocultarlas.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/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models.yaml lo genera el notebook de entrenamiento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la app no puede desincronizarse del preprocesamiento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La aplicación · inferencia y rendimiento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7_app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2553"/>
            <a:ext cx="5577840" cy="2664414"/>
          </a:xfrm>
          <a:prstGeom prst="rect">
            <a:avLst/>
          </a:prstGeom>
        </p:spPr>
      </p:pic>
      <p:pic>
        <p:nvPicPr>
          <p:cNvPr id="7" name="Picture 6" descr="07_app_rendi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64021"/>
            <a:ext cx="5577840" cy="26614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Izquierda: inferencia con todos los modelos sobre la misma imagen. Derecha: métricas del conjunto de prueba, ocultables.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9D8F"/>
                </a:solidFill>
                <a:latin typeface="Segoe UI"/>
              </a:rPr>
              <a:t>0.774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ROC-AUC de EfficientNetB0 (ImageNet)
sobre pacientes no vistos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5564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9D8F"/>
                </a:solidFill>
                <a:latin typeface="Segoe UI"/>
              </a:rPr>
              <a:t>+0.101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42316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aporta la transferencia desde ImageNet
frente a entrenar desde cero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169164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9164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75564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11.6 %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42316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 los estudios tiene anotación:
el techo real del problema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1. El rendimiento es real pero moderado, y es el resultado honesto.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Sin fuga entre pacientes y con negativos del mismo paciente, no queda margen para atribuirlo a un atajo.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2. La transferencia sí aporta; el techo es la supervisión disponible.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Anotar más cortes rendiría más que seguir escalando la arquitectura.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3. El umbral es una decisión clínica, no un valor por defecto.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Se elige en validación y queda configurable por modelo.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4. La tarea es por corte, no por paciente.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Agregar cortes a un veredicto por estudio es un problema distinto. Uso académico, no diagnóstico.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