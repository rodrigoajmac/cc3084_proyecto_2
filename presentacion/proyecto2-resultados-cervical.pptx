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646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309360"/>
            <a:ext cx="12191695" cy="54864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920240"/>
            <a:ext cx="103327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Segoe UI"/>
              </a:rPr>
              <a:t>Detección de fracturas cervicales en TC
Modelado, evaluación y aplicación</a:t>
            </a:r>
          </a:p>
        </p:txBody>
      </p:sp>
      <p:sp>
        <p:nvSpPr>
          <p:cNvPr id="5" name="Rectangle 4"/>
          <p:cNvSpPr/>
          <p:nvPr/>
        </p:nvSpPr>
        <p:spPr>
          <a:xfrm>
            <a:off x="941832" y="4069080"/>
            <a:ext cx="2011680" cy="63500"/>
          </a:xfrm>
          <a:prstGeom prst="rect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4343400"/>
            <a:ext cx="100584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FFFFFF"/>
                </a:solidFill>
                <a:latin typeface="Segoe UI"/>
              </a:rPr>
              <a:t>Proyecto 2 · Fase de resultados · Reto 20</a:t>
            </a:r>
          </a:p>
          <a:p>
            <a:r>
              <a:rPr sz="1600" b="0">
                <a:solidFill>
                  <a:srgbClr val="D4DEE2"/>
                </a:solidFill>
                <a:latin typeface="Segoe UI"/>
              </a:rPr>
              <a:t>CC3084 — Data Science · Universidad del Valle de Guatemala · Semestre II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47472"/>
            <a:ext cx="1088136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264653"/>
                </a:solidFill>
                <a:latin typeface="Segoe UI"/>
              </a:rPr>
              <a:t>El problema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024128"/>
            <a:ext cx="1371600" cy="5080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133856"/>
            <a:ext cx="1088136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50" i="1">
                <a:solidFill>
                  <a:srgbClr val="2A9D8F"/>
                </a:solidFill>
                <a:latin typeface="Segoe UI"/>
              </a:rPr>
              <a:t>Una lesión diminuta en una imagen enorme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327648"/>
            <a:ext cx="118872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9CA3AF"/>
                </a:solidFill>
                <a:latin typeface="Segoe UI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327648"/>
            <a:ext cx="640080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50">
                <a:solidFill>
                  <a:srgbClr val="9CA3AF"/>
                </a:solidFill>
                <a:latin typeface="Segoe UI"/>
              </a:rPr>
              <a:t>CC3084 · Proyecto 2 · RSNA 2022 Cervical Spine Fracture Detection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783080"/>
            <a:ext cx="3566160" cy="1572768"/>
          </a:xfrm>
          <a:prstGeom prst="rect">
            <a:avLst/>
          </a:prstGeom>
          <a:solidFill>
            <a:srgbClr val="F4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58368" y="1783080"/>
            <a:ext cx="63500" cy="1572768"/>
          </a:xfrm>
          <a:prstGeom prst="rect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847088"/>
            <a:ext cx="329184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E76F51"/>
                </a:solidFill>
                <a:latin typeface="Segoe UI"/>
              </a:rPr>
              <a:t>2.4 %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514600"/>
            <a:ext cx="3291840" cy="7863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sz="1100">
                <a:solidFill>
                  <a:srgbClr val="5B6B73"/>
                </a:solidFill>
                <a:latin typeface="Segoe UI"/>
              </a:rPr>
              <a:t>del corte ocupa la lesión anotada (mediana).
Relación fondo-a-lesión ≈ 41 : 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43400" y="1783080"/>
            <a:ext cx="3566160" cy="1572768"/>
          </a:xfrm>
          <a:prstGeom prst="rect">
            <a:avLst/>
          </a:prstGeom>
          <a:solidFill>
            <a:srgbClr val="F4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43400" y="1783080"/>
            <a:ext cx="63500" cy="1572768"/>
          </a:xfrm>
          <a:prstGeom prst="rect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07992" y="1847088"/>
            <a:ext cx="329184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E76F51"/>
                </a:solidFill>
                <a:latin typeface="Segoe UI"/>
              </a:rPr>
              <a:t>11.6 %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07992" y="2514600"/>
            <a:ext cx="3291840" cy="7863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sz="1100">
                <a:solidFill>
                  <a:srgbClr val="5B6B73"/>
                </a:solidFill>
                <a:latin typeface="Segoe UI"/>
              </a:rPr>
              <a:t>de los estudios tiene localización.
3 de cada 4 positivos no la tienen.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28431" y="1783080"/>
            <a:ext cx="3566160" cy="1572768"/>
          </a:xfrm>
          <a:prstGeom prst="rect">
            <a:avLst/>
          </a:prstGeom>
          <a:solidFill>
            <a:srgbClr val="F4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28431" y="1783080"/>
            <a:ext cx="63500" cy="1572768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93023" y="1847088"/>
            <a:ext cx="329184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2A9D8F"/>
                </a:solidFill>
                <a:latin typeface="Segoe UI"/>
              </a:rPr>
              <a:t>p = 1.8e-8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93023" y="2514600"/>
            <a:ext cx="3291840" cy="7863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sz="1100">
                <a:solidFill>
                  <a:srgbClr val="5B6B73"/>
                </a:solidFill>
                <a:latin typeface="Segoe UI"/>
              </a:rPr>
              <a:t>asociación entre metadatos de adquisición
y etiqueta: riesgo de atajo real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3611880"/>
            <a:ext cx="109728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500" b="1">
                <a:solidFill>
                  <a:srgbClr val="264653"/>
                </a:solidFill>
                <a:latin typeface="Segoe UI"/>
              </a:rPr>
              <a:t>¿Puede un clasificador identificar una fractura visible en un corte axial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500" b="1">
                <a:solidFill>
                  <a:srgbClr val="264653"/>
                </a:solidFill>
                <a:latin typeface="Segoe UI"/>
              </a:rPr>
              <a:t>sin que su desempeño se explique por atajos de protocolo ni por fuga entre pacientes?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500" b="0">
                <a:solidFill>
                  <a:srgbClr val="5B6B73"/>
                </a:solidFill>
                <a:latin typeface="Segoe UI"/>
              </a:rPr>
              <a:t/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500" b="0">
                <a:solidFill>
                  <a:srgbClr val="5B6B73"/>
                </a:solidFill>
                <a:latin typeface="Segoe UI"/>
              </a:rPr>
              <a:t>Los tres hallazgos del EDA no son contexto: son las tres restricciones que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500" b="0">
                <a:solidFill>
                  <a:srgbClr val="5B6B73"/>
                </a:solidFill>
                <a:latin typeface="Segoe UI"/>
              </a:rPr>
              <a:t>determinaron el diseño del experimento.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47472"/>
            <a:ext cx="1088136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264653"/>
                </a:solidFill>
                <a:latin typeface="Segoe UI"/>
              </a:rPr>
              <a:t>Cómo se construyó la etiqueta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024128"/>
            <a:ext cx="1371600" cy="5080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133856"/>
            <a:ext cx="1088136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50" i="1">
                <a:solidFill>
                  <a:srgbClr val="2A9D8F"/>
                </a:solidFill>
                <a:latin typeface="Segoe UI"/>
              </a:rPr>
              <a:t>El conjunto etiqueta estudios; la app recibe una imagen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327648"/>
            <a:ext cx="118872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9CA3AF"/>
                </a:solidFill>
                <a:latin typeface="Segoe UI"/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327648"/>
            <a:ext cx="640080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50">
                <a:solidFill>
                  <a:srgbClr val="9CA3AF"/>
                </a:solidFill>
                <a:latin typeface="Segoe UI"/>
              </a:rPr>
              <a:t>CC3084 · Proyecto 2 · RSNA 2022 Cervical Spine Fracture Detection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737360"/>
            <a:ext cx="109728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8000"/>
              </a:lnSpc>
              <a:spcAft>
                <a:spcPts val="700"/>
              </a:spcAft>
            </a:pPr>
            <a:r>
              <a:rPr sz="1400" b="1">
                <a:solidFill>
                  <a:srgbClr val="264653"/>
                </a:solidFill>
                <a:latin typeface="Segoe UI"/>
              </a:rPr>
              <a:t>Positivo — 7 217 cortes con bounding box</a:t>
            </a:r>
          </a:p>
          <a:p>
            <a:pPr>
              <a:lnSpc>
                <a:spcPct val="118000"/>
              </a:lnSpc>
              <a:spcAft>
                <a:spcPts val="700"/>
              </a:spcAft>
            </a:pPr>
            <a:r>
              <a:rPr sz="1400" b="0">
                <a:solidFill>
                  <a:srgbClr val="5B6B73"/>
                </a:solidFill>
                <a:latin typeface="Segoe UI"/>
              </a:rPr>
              <a:t>   la lesión es visible en ese corte concreto.</a:t>
            </a:r>
          </a:p>
          <a:p>
            <a:pPr>
              <a:lnSpc>
                <a:spcPct val="118000"/>
              </a:lnSpc>
              <a:spcAft>
                <a:spcPts val="700"/>
              </a:spcAft>
            </a:pPr>
            <a:r>
              <a:rPr sz="1400" b="1">
                <a:solidFill>
                  <a:srgbClr val="264653"/>
                </a:solidFill>
                <a:latin typeface="Segoe UI"/>
              </a:rPr>
              <a:t>Negativo difícil — cortes sanos del MISMO paciente positivo</a:t>
            </a:r>
          </a:p>
          <a:p>
            <a:pPr>
              <a:lnSpc>
                <a:spcPct val="118000"/>
              </a:lnSpc>
              <a:spcAft>
                <a:spcPts val="700"/>
              </a:spcAft>
            </a:pPr>
            <a:r>
              <a:rPr sz="1400" b="0">
                <a:solidFill>
                  <a:srgbClr val="5B6B73"/>
                </a:solidFill>
                <a:latin typeface="Segoe UI"/>
              </a:rPr>
              <a:t>   mismo paciente, mismo escáner, mismo protocolo a ambos lados de la etiqueta:</a:t>
            </a:r>
          </a:p>
          <a:p>
            <a:pPr>
              <a:lnSpc>
                <a:spcPct val="118000"/>
              </a:lnSpc>
              <a:spcAft>
                <a:spcPts val="700"/>
              </a:spcAft>
            </a:pPr>
            <a:r>
              <a:rPr sz="1400" b="0">
                <a:solidFill>
                  <a:srgbClr val="5B6B73"/>
                </a:solidFill>
                <a:latin typeface="Segoe UI"/>
              </a:rPr>
              <a:t>   el atajo de adquisición deja de pagar. Es la decisión central del diseño.</a:t>
            </a:r>
          </a:p>
          <a:p>
            <a:pPr>
              <a:lnSpc>
                <a:spcPct val="118000"/>
              </a:lnSpc>
              <a:spcAft>
                <a:spcPts val="700"/>
              </a:spcAft>
            </a:pPr>
            <a:r>
              <a:rPr sz="1400" b="1">
                <a:solidFill>
                  <a:srgbClr val="264653"/>
                </a:solidFill>
                <a:latin typeface="Segoe UI"/>
              </a:rPr>
              <a:t>Negativo fácil — estudios sin fractura, en las mismas posiciones relativas</a:t>
            </a:r>
          </a:p>
          <a:p>
            <a:pPr>
              <a:lnSpc>
                <a:spcPct val="118000"/>
              </a:lnSpc>
              <a:spcAft>
                <a:spcPts val="700"/>
              </a:spcAft>
            </a:pPr>
            <a:r>
              <a:rPr sz="1400" b="0">
                <a:solidFill>
                  <a:srgbClr val="5B6B73"/>
                </a:solidFill>
                <a:latin typeface="Segoe UI"/>
              </a:rPr>
              <a:t>   muestreados según la distribución de posición de los positivos, para que la</a:t>
            </a:r>
          </a:p>
          <a:p>
            <a:pPr>
              <a:lnSpc>
                <a:spcPct val="118000"/>
              </a:lnSpc>
              <a:spcAft>
                <a:spcPts val="700"/>
              </a:spcAft>
            </a:pPr>
            <a:r>
              <a:rPr sz="1400" b="0">
                <a:solidFill>
                  <a:srgbClr val="5B6B73"/>
                </a:solidFill>
                <a:latin typeface="Segoe UI"/>
              </a:rPr>
              <a:t>   altura dentro de la pila tampoco sea una pista.</a:t>
            </a:r>
          </a:p>
          <a:p>
            <a:pPr>
              <a:lnSpc>
                <a:spcPct val="118000"/>
              </a:lnSpc>
              <a:spcAft>
                <a:spcPts val="700"/>
              </a:spcAft>
            </a:pPr>
            <a:r>
              <a:rPr sz="1400" b="1">
                <a:solidFill>
                  <a:srgbClr val="264653"/>
                </a:solidFill>
                <a:latin typeface="Segoe UI"/>
              </a:rPr>
              <a:t>Excluidos — estudios positivos SIN caja</a:t>
            </a:r>
          </a:p>
          <a:p>
            <a:pPr>
              <a:lnSpc>
                <a:spcPct val="118000"/>
              </a:lnSpc>
              <a:spcAft>
                <a:spcPts val="700"/>
              </a:spcAft>
            </a:pPr>
            <a:r>
              <a:rPr sz="1400" b="0">
                <a:solidFill>
                  <a:srgbClr val="5B6B73"/>
                </a:solidFill>
                <a:latin typeface="Segoe UI"/>
              </a:rPr>
              <a:t>   se sabe que hay fractura pero no en qué corte: ninguna etiqueta sería fiable.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47472"/>
            <a:ext cx="1088136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264653"/>
                </a:solidFill>
                <a:latin typeface="Segoe UI"/>
              </a:rPr>
              <a:t>Partición agrupada por paciente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024128"/>
            <a:ext cx="1371600" cy="5080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133856"/>
            <a:ext cx="1088136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50" i="1">
                <a:solidFill>
                  <a:srgbClr val="2A9D8F"/>
                </a:solidFill>
                <a:latin typeface="Segoe UI"/>
              </a:rPr>
              <a:t>La decisión que evita una métrica inflada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327648"/>
            <a:ext cx="118872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9CA3AF"/>
                </a:solidFill>
                <a:latin typeface="Segoe UI"/>
              </a:rP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327648"/>
            <a:ext cx="640080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50">
                <a:solidFill>
                  <a:srgbClr val="9CA3AF"/>
                </a:solidFill>
                <a:latin typeface="Segoe UI"/>
              </a:rPr>
              <a:t>CC3084 · Proyecto 2 · RSNA 2022 Cervical Spine Fracture Detection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737360"/>
            <a:ext cx="57607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8000"/>
              </a:lnSpc>
              <a:spcAft>
                <a:spcPts val="700"/>
              </a:spcAft>
            </a:pPr>
            <a:r>
              <a:rPr sz="1400" b="1">
                <a:solidFill>
                  <a:srgbClr val="264653"/>
                </a:solidFill>
                <a:latin typeface="Segoe UI"/>
              </a:rPr>
              <a:t>Cortes contiguos son casi idénticos.</a:t>
            </a:r>
          </a:p>
          <a:p>
            <a:pPr>
              <a:lnSpc>
                <a:spcPct val="118000"/>
              </a:lnSpc>
              <a:spcAft>
                <a:spcPts val="700"/>
              </a:spcAft>
            </a:pPr>
            <a:r>
              <a:rPr sz="1400" b="0">
                <a:solidFill>
                  <a:srgbClr val="5B6B73"/>
                </a:solidFill>
                <a:latin typeface="Segoe UI"/>
              </a:rPr>
              <a:t>Con 0.625 mm de grosor mediano, dos cortes vecinos muestran prácticamente la misma anatomía.</a:t>
            </a:r>
          </a:p>
          <a:p>
            <a:pPr>
              <a:lnSpc>
                <a:spcPct val="118000"/>
              </a:lnSpc>
              <a:spcAft>
                <a:spcPts val="700"/>
              </a:spcAft>
            </a:pPr>
            <a:r>
              <a:rPr sz="1400" b="0">
                <a:solidFill>
                  <a:srgbClr val="5B6B73"/>
                </a:solidFill>
                <a:latin typeface="Segoe UI"/>
              </a:rPr>
              <a:t/>
            </a:r>
          </a:p>
          <a:p>
            <a:pPr>
              <a:lnSpc>
                <a:spcPct val="118000"/>
              </a:lnSpc>
              <a:spcAft>
                <a:spcPts val="700"/>
              </a:spcAft>
            </a:pPr>
            <a:r>
              <a:rPr sz="1400" b="1">
                <a:solidFill>
                  <a:srgbClr val="264653"/>
                </a:solidFill>
                <a:latin typeface="Segoe UI"/>
              </a:rPr>
              <a:t>Una partición aleatoria por corte</a:t>
            </a:r>
          </a:p>
          <a:p>
            <a:pPr>
              <a:lnSpc>
                <a:spcPct val="118000"/>
              </a:lnSpc>
              <a:spcAft>
                <a:spcPts val="700"/>
              </a:spcAft>
            </a:pPr>
            <a:r>
              <a:rPr sz="1400" b="0">
                <a:solidFill>
                  <a:srgbClr val="5B6B73"/>
                </a:solidFill>
                <a:latin typeface="Segoe UI"/>
              </a:rPr>
              <a:t>colocaría imágenes casi duplicadas a ambos lados y el modelo obtendría una métrica excelente por haber memorizado al paciente.</a:t>
            </a:r>
          </a:p>
          <a:p>
            <a:pPr>
              <a:lnSpc>
                <a:spcPct val="118000"/>
              </a:lnSpc>
              <a:spcAft>
                <a:spcPts val="700"/>
              </a:spcAft>
            </a:pPr>
            <a:r>
              <a:rPr sz="1400" b="0">
                <a:solidFill>
                  <a:srgbClr val="5B6B73"/>
                </a:solidFill>
                <a:latin typeface="Segoe UI"/>
              </a:rPr>
              <a:t/>
            </a:r>
          </a:p>
          <a:p>
            <a:pPr>
              <a:lnSpc>
                <a:spcPct val="118000"/>
              </a:lnSpc>
              <a:spcAft>
                <a:spcPts val="700"/>
              </a:spcAft>
            </a:pPr>
            <a:r>
              <a:rPr sz="1400" b="1">
                <a:solidFill>
                  <a:srgbClr val="264653"/>
                </a:solidFill>
                <a:latin typeface="Segoe UI"/>
              </a:rPr>
              <a:t>Se agrupa por StudyInstanceUID</a:t>
            </a:r>
          </a:p>
          <a:p>
            <a:pPr>
              <a:lnSpc>
                <a:spcPct val="118000"/>
              </a:lnSpc>
              <a:spcAft>
                <a:spcPts val="700"/>
              </a:spcAft>
            </a:pPr>
            <a:r>
              <a:rPr sz="1400" b="0">
                <a:solidFill>
                  <a:srgbClr val="5B6B73"/>
                </a:solidFill>
                <a:latin typeface="Segoe UI"/>
              </a:rPr>
              <a:t>con GroupShuffleSplit, y una aserción falla si algún estudio aparece en dos particiones.</a:t>
            </a:r>
          </a:p>
        </p:txBody>
      </p:sp>
      <p:sp>
        <p:nvSpPr>
          <p:cNvPr id="8" name="Rectangle 7"/>
          <p:cNvSpPr/>
          <p:nvPr/>
        </p:nvSpPr>
        <p:spPr>
          <a:xfrm>
            <a:off x="6766560" y="1783080"/>
            <a:ext cx="4846320" cy="1572768"/>
          </a:xfrm>
          <a:prstGeom prst="rect">
            <a:avLst/>
          </a:prstGeom>
          <a:solidFill>
            <a:srgbClr val="F4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766560" y="1783080"/>
            <a:ext cx="63500" cy="1572768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931152" y="1847088"/>
            <a:ext cx="45720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2A9D8F"/>
                </a:solidFill>
                <a:latin typeface="Segoe UI"/>
              </a:rPr>
              <a:t>1 150 estudios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31152" y="2514600"/>
            <a:ext cx="4572000" cy="7863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sz="1100">
                <a:solidFill>
                  <a:srgbClr val="5B6B73"/>
                </a:solidFill>
                <a:latin typeface="Segoe UI"/>
              </a:rPr>
              <a:t>14 402 cortes, balance 50.1 % positivos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766560" y="3520440"/>
            <a:ext cx="4846320" cy="1572768"/>
          </a:xfrm>
          <a:prstGeom prst="rect">
            <a:avLst/>
          </a:prstGeom>
          <a:solidFill>
            <a:srgbClr val="F4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766560" y="3520440"/>
            <a:ext cx="63500" cy="1572768"/>
          </a:xfrm>
          <a:prstGeom prst="rect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931152" y="3584448"/>
            <a:ext cx="45720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84" b="1">
                <a:solidFill>
                  <a:srgbClr val="E76F51"/>
                </a:solidFill>
                <a:latin typeface="Segoe UI"/>
              </a:rPr>
              <a:t>0 % fallos de lectura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31152" y="4251960"/>
            <a:ext cx="4572000" cy="7863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sz="1100">
                <a:solidFill>
                  <a:srgbClr val="5B6B73"/>
                </a:solidFill>
                <a:latin typeface="Segoe UI"/>
              </a:rPr>
              <a:t>una primera ejecución perdió el 35 % de los cortes en silencio
por falta del decodificador JPEG Lossless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47472"/>
            <a:ext cx="1088136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264653"/>
                </a:solidFill>
                <a:latin typeface="Segoe UI"/>
              </a:rPr>
              <a:t>Tres modelos de capacidad creciente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024128"/>
            <a:ext cx="1371600" cy="5080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607040" y="6327648"/>
            <a:ext cx="118872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9CA3AF"/>
                </a:solidFill>
                <a:latin typeface="Segoe UI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327648"/>
            <a:ext cx="640080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50">
                <a:solidFill>
                  <a:srgbClr val="9CA3AF"/>
                </a:solidFill>
                <a:latin typeface="Segoe UI"/>
              </a:rPr>
              <a:t>CC3084 · Proyecto 2 · RSNA 2022 Cervical Spine Fracture Detection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6916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8000"/>
              </a:lnSpc>
              <a:spcAft>
                <a:spcPts val="1000"/>
              </a:spcAft>
            </a:pPr>
            <a:r>
              <a:rPr sz="1500" b="1">
                <a:solidFill>
                  <a:srgbClr val="264653"/>
                </a:solidFill>
                <a:latin typeface="Segoe UI"/>
              </a:rPr>
              <a:t>Si la transferencia no supera a la CNN pequeña, el cuello de botella son los datos.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2286000"/>
            <a:ext cx="3520440" cy="1572768"/>
          </a:xfrm>
          <a:prstGeom prst="rect">
            <a:avLst/>
          </a:prstGeom>
          <a:solidFill>
            <a:srgbClr val="F4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58368" y="2286000"/>
            <a:ext cx="63500" cy="1572768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350008"/>
            <a:ext cx="32461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2A9D8F"/>
                </a:solidFill>
                <a:latin typeface="Segoe UI"/>
              </a:rPr>
              <a:t>0.24 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017520"/>
            <a:ext cx="3246120" cy="7863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sz="1100">
                <a:solidFill>
                  <a:srgbClr val="5B6B73"/>
                </a:solidFill>
                <a:latin typeface="Segoe UI"/>
              </a:rPr>
              <a:t>CNN propia (desde cero)
308 s de entrenamiento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407407" y="2286000"/>
            <a:ext cx="3520440" cy="1572768"/>
          </a:xfrm>
          <a:prstGeom prst="rect">
            <a:avLst/>
          </a:prstGeom>
          <a:solidFill>
            <a:srgbClr val="F4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407407" y="2286000"/>
            <a:ext cx="63500" cy="1572768"/>
          </a:xfrm>
          <a:prstGeom prst="rect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1999" y="2350008"/>
            <a:ext cx="32461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E76F51"/>
                </a:solidFill>
                <a:latin typeface="Segoe UI"/>
              </a:rPr>
              <a:t>2.26 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1999" y="3017520"/>
            <a:ext cx="3246120" cy="7863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sz="1100">
                <a:solidFill>
                  <a:srgbClr val="5B6B73"/>
                </a:solidFill>
                <a:latin typeface="Segoe UI"/>
              </a:rPr>
              <a:t>MobileNetV2 (ImageNet)
579 s de entrenamiento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156448" y="2286000"/>
            <a:ext cx="3520440" cy="1572768"/>
          </a:xfrm>
          <a:prstGeom prst="rect">
            <a:avLst/>
          </a:prstGeom>
          <a:solidFill>
            <a:srgbClr val="F4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156448" y="2286000"/>
            <a:ext cx="63500" cy="1572768"/>
          </a:xfrm>
          <a:prstGeom prst="rect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21040" y="2350008"/>
            <a:ext cx="32461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E76F51"/>
                </a:solidFill>
                <a:latin typeface="Segoe UI"/>
              </a:rPr>
              <a:t>4.05 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21040" y="3017520"/>
            <a:ext cx="3246120" cy="7863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sz="1100">
                <a:solidFill>
                  <a:srgbClr val="5B6B73"/>
                </a:solidFill>
                <a:latin typeface="Segoe UI"/>
              </a:rPr>
              <a:t>EfficientNetB0 (ImageNet)
515 s de entrenamiento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4114800"/>
            <a:ext cx="1097280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8000"/>
              </a:lnSpc>
              <a:spcAft>
                <a:spcPts val="600"/>
              </a:spcAft>
            </a:pPr>
            <a:r>
              <a:rPr sz="1350" b="1">
                <a:solidFill>
                  <a:srgbClr val="264653"/>
                </a:solidFill>
                <a:latin typeface="Segoe UI"/>
              </a:rPr>
              <a:t>Entrenamiento en dos etapas para las redes preentrenadas:</a:t>
            </a:r>
          </a:p>
          <a:p>
            <a:pPr>
              <a:lnSpc>
                <a:spcPct val="118000"/>
              </a:lnSpc>
              <a:spcAft>
                <a:spcPts val="600"/>
              </a:spcAft>
            </a:pPr>
            <a:r>
              <a:rPr sz="1350" b="0">
                <a:solidFill>
                  <a:srgbClr val="5B6B73"/>
                </a:solidFill>
                <a:latin typeface="Segoe UI"/>
              </a:rPr>
              <a:t>   base congelada con tasa 1e-3 → base descongelada con tasa 1e-5 (cien veces menor).</a:t>
            </a:r>
          </a:p>
          <a:p>
            <a:pPr>
              <a:lnSpc>
                <a:spcPct val="118000"/>
              </a:lnSpc>
              <a:spcAft>
                <a:spcPts val="600"/>
              </a:spcAft>
            </a:pPr>
            <a:r>
              <a:rPr sz="1350" b="1">
                <a:solidFill>
                  <a:srgbClr val="264653"/>
                </a:solidFill>
                <a:latin typeface="Segoe UI"/>
              </a:rPr>
              <a:t>Parada temprana sobre AUC de validación</a:t>
            </a:r>
          </a:p>
          <a:p>
            <a:pPr>
              <a:lnSpc>
                <a:spcPct val="118000"/>
              </a:lnSpc>
              <a:spcAft>
                <a:spcPts val="600"/>
              </a:spcAft>
            </a:pPr>
            <a:r>
              <a:rPr sz="1350" b="0">
                <a:solidFill>
                  <a:srgbClr val="5B6B73"/>
                </a:solidFill>
                <a:latin typeface="Segoe UI"/>
              </a:rPr>
              <a:t>   con restauración de los mejores pesos, en lugar de un número fijo de épocas.</a:t>
            </a:r>
          </a:p>
          <a:p>
            <a:pPr>
              <a:lnSpc>
                <a:spcPct val="118000"/>
              </a:lnSpc>
              <a:spcAft>
                <a:spcPts val="600"/>
              </a:spcAft>
            </a:pPr>
            <a:r>
              <a:rPr sz="1350" b="1">
                <a:solidFill>
                  <a:srgbClr val="264653"/>
                </a:solidFill>
                <a:latin typeface="Segoe UI"/>
              </a:rPr>
              <a:t>Umbral elegido en validación por índice de Youden</a:t>
            </a:r>
          </a:p>
          <a:p>
            <a:pPr>
              <a:lnSpc>
                <a:spcPct val="118000"/>
              </a:lnSpc>
              <a:spcAft>
                <a:spcPts val="600"/>
              </a:spcAft>
            </a:pPr>
            <a:r>
              <a:rPr sz="1350" b="0">
                <a:solidFill>
                  <a:srgbClr val="5B6B73"/>
                </a:solidFill>
                <a:latin typeface="Segoe UI"/>
              </a:rPr>
              <a:t>   no se hereda 0.5: un modelo puede ordenar bien y aun así estar descalibrado.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47472"/>
            <a:ext cx="1088136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264653"/>
                </a:solidFill>
                <a:latin typeface="Segoe UI"/>
              </a:rPr>
              <a:t>Resultados · capacidad de ordenamiento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024128"/>
            <a:ext cx="1371600" cy="5080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607040" y="6327648"/>
            <a:ext cx="118872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9CA3AF"/>
                </a:solidFill>
                <a:latin typeface="Segoe UI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327648"/>
            <a:ext cx="640080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50">
                <a:solidFill>
                  <a:srgbClr val="9CA3AF"/>
                </a:solidFill>
                <a:latin typeface="Segoe UI"/>
              </a:rPr>
              <a:t>CC3084 · Proyecto 2 · RSNA 2022 Cervical Spine Fracture Detection</a:t>
            </a:r>
          </a:p>
        </p:txBody>
      </p:sp>
      <p:pic>
        <p:nvPicPr>
          <p:cNvPr id="6" name="Picture 5" descr="06_curvas_ro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59534" y="1645920"/>
            <a:ext cx="5253332" cy="44805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406640" y="1737360"/>
            <a:ext cx="42062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8000"/>
              </a:lnSpc>
              <a:spcAft>
                <a:spcPts val="600"/>
              </a:spcAft>
            </a:pPr>
            <a:r>
              <a:rPr sz="1350" b="1">
                <a:solidFill>
                  <a:srgbClr val="264653"/>
                </a:solidFill>
                <a:latin typeface="Segoe UI"/>
              </a:rPr>
              <a:t>Mejor: EfficientNetB0 (ImageNet)</a:t>
            </a:r>
          </a:p>
          <a:p>
            <a:pPr>
              <a:lnSpc>
                <a:spcPct val="118000"/>
              </a:lnSpc>
              <a:spcAft>
                <a:spcPts val="600"/>
              </a:spcAft>
            </a:pPr>
            <a:r>
              <a:rPr sz="1350" b="0">
                <a:solidFill>
                  <a:srgbClr val="5B6B73"/>
                </a:solidFill>
                <a:latin typeface="Segoe UI"/>
              </a:rPr>
              <a:t>ROC-AUC 0.7647</a:t>
            </a:r>
          </a:p>
          <a:p>
            <a:pPr>
              <a:lnSpc>
                <a:spcPct val="118000"/>
              </a:lnSpc>
              <a:spcAft>
                <a:spcPts val="600"/>
              </a:spcAft>
            </a:pPr>
            <a:r>
              <a:rPr sz="1350" b="0">
                <a:solidFill>
                  <a:srgbClr val="5B6B73"/>
                </a:solidFill>
                <a:latin typeface="Segoe UI"/>
              </a:rPr>
              <a:t/>
            </a:r>
          </a:p>
          <a:p>
            <a:pPr>
              <a:lnSpc>
                <a:spcPct val="118000"/>
              </a:lnSpc>
              <a:spcAft>
                <a:spcPts val="600"/>
              </a:spcAft>
            </a:pPr>
            <a:r>
              <a:rPr sz="1350" b="1">
                <a:solidFill>
                  <a:srgbClr val="264653"/>
                </a:solidFill>
                <a:latin typeface="Segoe UI"/>
              </a:rPr>
              <a:t>El orden sigue a la capacidad</a:t>
            </a:r>
          </a:p>
          <a:p>
            <a:pPr>
              <a:lnSpc>
                <a:spcPct val="118000"/>
              </a:lnSpc>
              <a:spcAft>
                <a:spcPts val="600"/>
              </a:spcAft>
            </a:pPr>
            <a:r>
              <a:rPr sz="1350" b="0">
                <a:solidFill>
                  <a:srgbClr val="5B6B73"/>
                </a:solidFill>
                <a:latin typeface="Segoe UI"/>
              </a:rPr>
              <a:t>0.718 → 0.730 → 0.765</a:t>
            </a:r>
          </a:p>
          <a:p>
            <a:pPr>
              <a:lnSpc>
                <a:spcPct val="118000"/>
              </a:lnSpc>
              <a:spcAft>
                <a:spcPts val="600"/>
              </a:spcAft>
            </a:pPr>
            <a:r>
              <a:rPr sz="1350" b="0">
                <a:solidFill>
                  <a:srgbClr val="5B6B73"/>
                </a:solidFill>
                <a:latin typeface="Segoe UI"/>
              </a:rPr>
              <a:t>para 0.24 M → 2.26 M → 4.05 M parámetros.</a:t>
            </a:r>
          </a:p>
          <a:p>
            <a:pPr>
              <a:lnSpc>
                <a:spcPct val="118000"/>
              </a:lnSpc>
              <a:spcAft>
                <a:spcPts val="600"/>
              </a:spcAft>
            </a:pPr>
            <a:r>
              <a:rPr sz="1350" b="0">
                <a:solidFill>
                  <a:srgbClr val="5B6B73"/>
                </a:solidFill>
                <a:latin typeface="Segoe UI"/>
              </a:rPr>
              <a:t/>
            </a:r>
          </a:p>
          <a:p>
            <a:pPr>
              <a:lnSpc>
                <a:spcPct val="118000"/>
              </a:lnSpc>
              <a:spcAft>
                <a:spcPts val="600"/>
              </a:spcAft>
            </a:pPr>
            <a:r>
              <a:rPr sz="1350" b="1">
                <a:solidFill>
                  <a:srgbClr val="264653"/>
                </a:solidFill>
                <a:latin typeface="Segoe UI"/>
              </a:rPr>
              <a:t>La transferencia aporta 0.047 de AUC</a:t>
            </a:r>
          </a:p>
          <a:p>
            <a:pPr>
              <a:lnSpc>
                <a:spcPct val="118000"/>
              </a:lnSpc>
              <a:spcAft>
                <a:spcPts val="600"/>
              </a:spcAft>
            </a:pPr>
            <a:r>
              <a:rPr sz="1350" b="0">
                <a:solidFill>
                  <a:srgbClr val="5B6B73"/>
                </a:solidFill>
                <a:latin typeface="Segoe UI"/>
              </a:rPr>
              <a:t>sobre la CNN entrenada desde cero, pese a que ImageNet no se parece en nada a una tomografía.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47472"/>
            <a:ext cx="1088136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264653"/>
                </a:solidFill>
                <a:latin typeface="Segoe UI"/>
              </a:rPr>
              <a:t>Resultados · dónde se equivoca cada modelo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024128"/>
            <a:ext cx="1371600" cy="5080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607040" y="6327648"/>
            <a:ext cx="118872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9CA3AF"/>
                </a:solidFill>
                <a:latin typeface="Segoe UI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327648"/>
            <a:ext cx="640080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50">
                <a:solidFill>
                  <a:srgbClr val="9CA3AF"/>
                </a:solidFill>
                <a:latin typeface="Segoe UI"/>
              </a:rPr>
              <a:t>CC3084 · Proyecto 2 · RSNA 2022 Cervical Spine Fracture Detection</a:t>
            </a:r>
          </a:p>
        </p:txBody>
      </p:sp>
      <p:pic>
        <p:nvPicPr>
          <p:cNvPr id="6" name="Picture 5" descr="06_matrices_confu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7845" y="1691640"/>
            <a:ext cx="10065830" cy="32004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58368" y="5029200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8000"/>
              </a:lnSpc>
              <a:spcAft>
                <a:spcPts val="600"/>
              </a:spcAft>
            </a:pPr>
            <a:r>
              <a:rPr sz="1300" b="1">
                <a:solidFill>
                  <a:srgbClr val="264653"/>
                </a:solidFill>
                <a:latin typeface="Segoe UI"/>
              </a:rPr>
              <a:t>En cribado la sensibilidad domina.</a:t>
            </a:r>
          </a:p>
          <a:p>
            <a:pPr>
              <a:lnSpc>
                <a:spcPct val="118000"/>
              </a:lnSpc>
              <a:spcAft>
                <a:spcPts val="600"/>
              </a:spcAft>
            </a:pPr>
            <a:r>
              <a:rPr sz="1300" b="0">
                <a:solidFill>
                  <a:srgbClr val="5B6B73"/>
                </a:solidFill>
                <a:latin typeface="Segoe UI"/>
              </a:rPr>
              <a:t>Un falso negativo es una fractura no diagnosticada, con riesgo de deterioro neurológico; un falso positivo solo genera una revisión. Por eso el umbral se elige en validación maximizando sensibilidad + especificidad, y queda configurable por modelo en models.yaml: es una decisión explícita, no el 0.5 por defecto.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47472"/>
            <a:ext cx="1088136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264653"/>
                </a:solidFill>
                <a:latin typeface="Segoe UI"/>
              </a:rPr>
              <a:t>Resultados · rendimiento frente a coste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024128"/>
            <a:ext cx="1371600" cy="5080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607040" y="6327648"/>
            <a:ext cx="118872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9CA3AF"/>
                </a:solidFill>
                <a:latin typeface="Segoe UI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327648"/>
            <a:ext cx="640080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50">
                <a:solidFill>
                  <a:srgbClr val="9CA3AF"/>
                </a:solidFill>
                <a:latin typeface="Segoe UI"/>
              </a:rPr>
              <a:t>CC3084 · Proyecto 2 · RSNA 2022 Cervical Spine Fracture Detection</a:t>
            </a:r>
          </a:p>
        </p:txBody>
      </p:sp>
      <p:pic>
        <p:nvPicPr>
          <p:cNvPr id="6" name="Picture 5" descr="06_comparacion_model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728863"/>
            <a:ext cx="10881360" cy="358315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58368" y="548640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8000"/>
              </a:lnSpc>
              <a:spcAft>
                <a:spcPts val="500"/>
              </a:spcAft>
            </a:pPr>
            <a:r>
              <a:rPr sz="1300" b="1">
                <a:solidFill>
                  <a:srgbClr val="264653"/>
                </a:solidFill>
                <a:latin typeface="Segoe UI"/>
              </a:rPr>
              <a:t>CNN propia (desde cero) responde en 1.6 ms por imagen.</a:t>
            </a:r>
          </a:p>
          <a:p>
            <a:pPr>
              <a:lnSpc>
                <a:spcPct val="118000"/>
              </a:lnSpc>
              <a:spcAft>
                <a:spcPts val="500"/>
              </a:spcAft>
            </a:pPr>
            <a:r>
              <a:rPr sz="1300" b="0">
                <a:solidFill>
                  <a:srgbClr val="5B6B73"/>
                </a:solidFill>
                <a:latin typeface="Segoe UI"/>
              </a:rPr>
              <a:t>Para una aplicación interactiva la latencia pesa más que unas centésimas de AUC: los tres están muy por debajo del umbral de percepción.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47472"/>
            <a:ext cx="1088136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264653"/>
                </a:solidFill>
                <a:latin typeface="Segoe UI"/>
              </a:rPr>
              <a:t>La aplicación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024128"/>
            <a:ext cx="1371600" cy="5080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133856"/>
            <a:ext cx="1088136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50" i="1">
                <a:solidFill>
                  <a:srgbClr val="2A9D8F"/>
                </a:solidFill>
                <a:latin typeface="Segoe UI"/>
              </a:rPr>
              <a:t>Streamlit · configuración declarativa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327648"/>
            <a:ext cx="118872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9CA3AF"/>
                </a:solidFill>
                <a:latin typeface="Segoe UI"/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327648"/>
            <a:ext cx="640080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50">
                <a:solidFill>
                  <a:srgbClr val="9CA3AF"/>
                </a:solidFill>
                <a:latin typeface="Segoe UI"/>
              </a:rPr>
              <a:t>CC3084 · Proyecto 2 · RSNA 2022 Cervical Spine Fracture Detection</a:t>
            </a:r>
          </a:p>
        </p:txBody>
      </p:sp>
      <p:pic>
        <p:nvPicPr>
          <p:cNvPr id="7" name="Picture 6" descr="07_app_dat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326861"/>
            <a:ext cx="5577840" cy="2661477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92240" y="1737360"/>
            <a:ext cx="51206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8000"/>
              </a:lnSpc>
              <a:spcAft>
                <a:spcPts val="600"/>
              </a:spcAft>
            </a:pPr>
            <a:r>
              <a:rPr sz="1300" b="1">
                <a:solidFill>
                  <a:srgbClr val="264653"/>
                </a:solidFill>
                <a:latin typeface="Segoe UI"/>
              </a:rPr>
              <a:t>1 · Datos</a:t>
            </a:r>
          </a:p>
          <a:p>
            <a:pPr>
              <a:lnSpc>
                <a:spcPct val="118000"/>
              </a:lnSpc>
              <a:spcAft>
                <a:spcPts val="600"/>
              </a:spcAft>
            </a:pPr>
            <a:r>
              <a:rPr sz="1300" b="0">
                <a:solidFill>
                  <a:srgbClr val="5B6B73"/>
                </a:solidFill>
                <a:latin typeface="Segoe UI"/>
              </a:rPr>
              <a:t>   explora las variables con las que se construyeron los modelos: observaciones, nulos, distribución de la etiqueta y filtro de texto.</a:t>
            </a:r>
          </a:p>
          <a:p>
            <a:pPr>
              <a:lnSpc>
                <a:spcPct val="118000"/>
              </a:lnSpc>
              <a:spcAft>
                <a:spcPts val="600"/>
              </a:spcAft>
            </a:pPr>
            <a:r>
              <a:rPr sz="1300" b="1">
                <a:solidFill>
                  <a:srgbClr val="264653"/>
                </a:solidFill>
                <a:latin typeface="Segoe UI"/>
              </a:rPr>
              <a:t>2 · Analizar imagen</a:t>
            </a:r>
          </a:p>
          <a:p>
            <a:pPr>
              <a:lnSpc>
                <a:spcPct val="118000"/>
              </a:lnSpc>
              <a:spcAft>
                <a:spcPts val="600"/>
              </a:spcAft>
            </a:pPr>
            <a:r>
              <a:rPr sz="1300" b="0">
                <a:solidFill>
                  <a:srgbClr val="5B6B73"/>
                </a:solidFill>
                <a:latin typeface="Segoe UI"/>
              </a:rPr>
              <a:t>   un modelo concreto o «Todos los modelos disponibles»; resultados en tabla y gráfica comparativa.</a:t>
            </a:r>
          </a:p>
          <a:p>
            <a:pPr>
              <a:lnSpc>
                <a:spcPct val="118000"/>
              </a:lnSpc>
              <a:spcAft>
                <a:spcPts val="600"/>
              </a:spcAft>
            </a:pPr>
            <a:r>
              <a:rPr sz="1300" b="1">
                <a:solidFill>
                  <a:srgbClr val="264653"/>
                </a:solidFill>
                <a:latin typeface="Segoe UI"/>
              </a:rPr>
              <a:t>3 · Rendimiento</a:t>
            </a:r>
          </a:p>
          <a:p>
            <a:pPr>
              <a:lnSpc>
                <a:spcPct val="118000"/>
              </a:lnSpc>
              <a:spcAft>
                <a:spcPts val="600"/>
              </a:spcAft>
            </a:pPr>
            <a:r>
              <a:rPr sz="1300" b="0">
                <a:solidFill>
                  <a:srgbClr val="5B6B73"/>
                </a:solidFill>
                <a:latin typeface="Segoe UI"/>
              </a:rPr>
              <a:t>   métricas y matrices interactivas, con un interruptor que permite ocultarlas.</a:t>
            </a:r>
          </a:p>
          <a:p>
            <a:pPr>
              <a:lnSpc>
                <a:spcPct val="118000"/>
              </a:lnSpc>
              <a:spcAft>
                <a:spcPts val="600"/>
              </a:spcAft>
            </a:pPr>
            <a:r>
              <a:rPr sz="1300" b="0">
                <a:solidFill>
                  <a:srgbClr val="5B6B73"/>
                </a:solidFill>
                <a:latin typeface="Segoe UI"/>
              </a:rPr>
              <a:t/>
            </a:r>
          </a:p>
          <a:p>
            <a:pPr>
              <a:lnSpc>
                <a:spcPct val="118000"/>
              </a:lnSpc>
              <a:spcAft>
                <a:spcPts val="600"/>
              </a:spcAft>
            </a:pPr>
            <a:r>
              <a:rPr sz="1300" b="1">
                <a:solidFill>
                  <a:srgbClr val="264653"/>
                </a:solidFill>
                <a:latin typeface="Segoe UI"/>
              </a:rPr>
              <a:t>models.yaml lo genera el notebook de entrenamiento</a:t>
            </a:r>
          </a:p>
          <a:p>
            <a:pPr>
              <a:lnSpc>
                <a:spcPct val="118000"/>
              </a:lnSpc>
              <a:spcAft>
                <a:spcPts val="600"/>
              </a:spcAft>
            </a:pPr>
            <a:r>
              <a:rPr sz="1300" b="0">
                <a:solidFill>
                  <a:srgbClr val="5B6B73"/>
                </a:solidFill>
                <a:latin typeface="Segoe UI"/>
              </a:rPr>
              <a:t>   la app no puede desincronizarse del preprocesamiento real.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47472"/>
            <a:ext cx="1088136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264653"/>
                </a:solidFill>
                <a:latin typeface="Segoe UI"/>
              </a:rPr>
              <a:t>La aplicación · inferencia y rendimiento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024128"/>
            <a:ext cx="1371600" cy="5080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607040" y="6327648"/>
            <a:ext cx="118872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9CA3AF"/>
                </a:solidFill>
                <a:latin typeface="Segoe UI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327648"/>
            <a:ext cx="640080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50">
                <a:solidFill>
                  <a:srgbClr val="9CA3AF"/>
                </a:solidFill>
                <a:latin typeface="Segoe UI"/>
              </a:rPr>
              <a:t>CC3084 · Proyecto 2 · RSNA 2022 Cervical Spine Fracture Detection</a:t>
            </a:r>
          </a:p>
        </p:txBody>
      </p:sp>
      <p:pic>
        <p:nvPicPr>
          <p:cNvPr id="6" name="Picture 5" descr="07_app_analis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462553"/>
            <a:ext cx="5577840" cy="2664414"/>
          </a:xfrm>
          <a:prstGeom prst="rect">
            <a:avLst/>
          </a:prstGeom>
        </p:spPr>
      </p:pic>
      <p:pic>
        <p:nvPicPr>
          <p:cNvPr id="7" name="Picture 6" descr="07_app_rendimient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2464021"/>
            <a:ext cx="5577840" cy="2661477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59436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8000"/>
              </a:lnSpc>
              <a:spcAft>
                <a:spcPts val="1000"/>
              </a:spcAft>
            </a:pPr>
            <a:r>
              <a:rPr sz="1250" b="0">
                <a:solidFill>
                  <a:srgbClr val="5B6B73"/>
                </a:solidFill>
                <a:latin typeface="Segoe UI"/>
              </a:rPr>
              <a:t>Izquierda: inferencia con todos los modelos sobre la misma imagen. Derecha: métricas del conjunto de prueba, ocultables.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47472"/>
            <a:ext cx="1088136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264653"/>
                </a:solidFill>
                <a:latin typeface="Segoe UI"/>
              </a:rPr>
              <a:t>Conclusiones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024128"/>
            <a:ext cx="1371600" cy="5080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607040" y="6327648"/>
            <a:ext cx="118872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9CA3AF"/>
                </a:solidFill>
                <a:latin typeface="Segoe UI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327648"/>
            <a:ext cx="640080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50">
                <a:solidFill>
                  <a:srgbClr val="9CA3AF"/>
                </a:solidFill>
                <a:latin typeface="Segoe UI"/>
              </a:rPr>
              <a:t>CC3084 · Proyecto 2 · RSNA 2022 Cervical Spine Fracture Detection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691640"/>
            <a:ext cx="3520440" cy="1572768"/>
          </a:xfrm>
          <a:prstGeom prst="rect">
            <a:avLst/>
          </a:prstGeom>
          <a:solidFill>
            <a:srgbClr val="F4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691640"/>
            <a:ext cx="63500" cy="1572768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755648"/>
            <a:ext cx="32461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2A9D8F"/>
                </a:solidFill>
                <a:latin typeface="Segoe UI"/>
              </a:rPr>
              <a:t>0.765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423160"/>
            <a:ext cx="3246120" cy="7863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sz="1100">
                <a:solidFill>
                  <a:srgbClr val="5B6B73"/>
                </a:solidFill>
                <a:latin typeface="Segoe UI"/>
              </a:rPr>
              <a:t>ROC-AUC de EfficientNetB0 (ImageNet)
sobre pacientes no vistos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43400" y="1691640"/>
            <a:ext cx="3520440" cy="1572768"/>
          </a:xfrm>
          <a:prstGeom prst="rect">
            <a:avLst/>
          </a:prstGeom>
          <a:solidFill>
            <a:srgbClr val="F4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43400" y="1691640"/>
            <a:ext cx="63500" cy="1572768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07992" y="1755648"/>
            <a:ext cx="32461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2A9D8F"/>
                </a:solidFill>
                <a:latin typeface="Segoe UI"/>
              </a:rPr>
              <a:t>+0.047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07992" y="2423160"/>
            <a:ext cx="3246120" cy="7863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sz="1100">
                <a:solidFill>
                  <a:srgbClr val="5B6B73"/>
                </a:solidFill>
                <a:latin typeface="Segoe UI"/>
              </a:rPr>
              <a:t>aporta la transferencia desde ImageNet
frente a entrenar desde cero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028431" y="1691640"/>
            <a:ext cx="3520440" cy="1572768"/>
          </a:xfrm>
          <a:prstGeom prst="rect">
            <a:avLst/>
          </a:prstGeom>
          <a:solidFill>
            <a:srgbClr val="F4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028431" y="1691640"/>
            <a:ext cx="63500" cy="1572768"/>
          </a:xfrm>
          <a:prstGeom prst="rect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93023" y="1755648"/>
            <a:ext cx="32461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E76F51"/>
                </a:solidFill>
                <a:latin typeface="Segoe UI"/>
              </a:rPr>
              <a:t>11.6 %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93023" y="2423160"/>
            <a:ext cx="3246120" cy="7863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sz="1100">
                <a:solidFill>
                  <a:srgbClr val="5B6B73"/>
                </a:solidFill>
                <a:latin typeface="Segoe UI"/>
              </a:rPr>
              <a:t>de los estudios tiene anotación:
el techo real del problema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" y="3474720"/>
            <a:ext cx="109728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8000"/>
              </a:lnSpc>
              <a:spcAft>
                <a:spcPts val="500"/>
              </a:spcAft>
            </a:pPr>
            <a:r>
              <a:rPr sz="1300" b="1">
                <a:solidFill>
                  <a:srgbClr val="264653"/>
                </a:solidFill>
                <a:latin typeface="Segoe UI"/>
              </a:rPr>
              <a:t>1. El rendimiento es real pero moderado, y es el resultado honesto.</a:t>
            </a:r>
          </a:p>
          <a:p>
            <a:pPr>
              <a:lnSpc>
                <a:spcPct val="118000"/>
              </a:lnSpc>
              <a:spcAft>
                <a:spcPts val="500"/>
              </a:spcAft>
            </a:pPr>
            <a:r>
              <a:rPr sz="1300" b="0">
                <a:solidFill>
                  <a:srgbClr val="5B6B73"/>
                </a:solidFill>
                <a:latin typeface="Segoe UI"/>
              </a:rPr>
              <a:t>   Sin fuga entre pacientes y con negativos del mismo paciente, no queda margen para atribuirlo a un atajo.</a:t>
            </a:r>
          </a:p>
          <a:p>
            <a:pPr>
              <a:lnSpc>
                <a:spcPct val="118000"/>
              </a:lnSpc>
              <a:spcAft>
                <a:spcPts val="500"/>
              </a:spcAft>
            </a:pPr>
            <a:r>
              <a:rPr sz="1300" b="1">
                <a:solidFill>
                  <a:srgbClr val="264653"/>
                </a:solidFill>
                <a:latin typeface="Segoe UI"/>
              </a:rPr>
              <a:t>2. La transferencia sí aporta; el techo es la supervisión disponible.</a:t>
            </a:r>
          </a:p>
          <a:p>
            <a:pPr>
              <a:lnSpc>
                <a:spcPct val="118000"/>
              </a:lnSpc>
              <a:spcAft>
                <a:spcPts val="500"/>
              </a:spcAft>
            </a:pPr>
            <a:r>
              <a:rPr sz="1300" b="0">
                <a:solidFill>
                  <a:srgbClr val="5B6B73"/>
                </a:solidFill>
                <a:latin typeface="Segoe UI"/>
              </a:rPr>
              <a:t>   Anotar más cortes rendiría más que seguir escalando la arquitectura.</a:t>
            </a:r>
          </a:p>
          <a:p>
            <a:pPr>
              <a:lnSpc>
                <a:spcPct val="118000"/>
              </a:lnSpc>
              <a:spcAft>
                <a:spcPts val="500"/>
              </a:spcAft>
            </a:pPr>
            <a:r>
              <a:rPr sz="1300" b="1">
                <a:solidFill>
                  <a:srgbClr val="264653"/>
                </a:solidFill>
                <a:latin typeface="Segoe UI"/>
              </a:rPr>
              <a:t>3. El umbral es una decisión clínica, no un valor por defecto.</a:t>
            </a:r>
          </a:p>
          <a:p>
            <a:pPr>
              <a:lnSpc>
                <a:spcPct val="118000"/>
              </a:lnSpc>
              <a:spcAft>
                <a:spcPts val="500"/>
              </a:spcAft>
            </a:pPr>
            <a:r>
              <a:rPr sz="1300" b="0">
                <a:solidFill>
                  <a:srgbClr val="5B6B73"/>
                </a:solidFill>
                <a:latin typeface="Segoe UI"/>
              </a:rPr>
              <a:t>   Se elige en validación y queda configurable por modelo.</a:t>
            </a:r>
          </a:p>
          <a:p>
            <a:pPr>
              <a:lnSpc>
                <a:spcPct val="118000"/>
              </a:lnSpc>
              <a:spcAft>
                <a:spcPts val="500"/>
              </a:spcAft>
            </a:pPr>
            <a:r>
              <a:rPr sz="1300" b="1">
                <a:solidFill>
                  <a:srgbClr val="264653"/>
                </a:solidFill>
                <a:latin typeface="Segoe UI"/>
              </a:rPr>
              <a:t>4. La tarea es por corte, no por paciente.</a:t>
            </a:r>
          </a:p>
          <a:p>
            <a:pPr>
              <a:lnSpc>
                <a:spcPct val="118000"/>
              </a:lnSpc>
              <a:spcAft>
                <a:spcPts val="500"/>
              </a:spcAft>
            </a:pPr>
            <a:r>
              <a:rPr sz="1300" b="0">
                <a:solidFill>
                  <a:srgbClr val="5B6B73"/>
                </a:solidFill>
                <a:latin typeface="Segoe UI"/>
              </a:rPr>
              <a:t>   Agregar cortes a un veredicto por estudio es un problema distinto. Uso académico, no diagnóstico.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